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9" r:id="rId3"/>
    <p:sldId id="258" r:id="rId4"/>
    <p:sldId id="260" r:id="rId5"/>
    <p:sldId id="261" r:id="rId6"/>
    <p:sldId id="262" r:id="rId7"/>
    <p:sldId id="263" r:id="rId8"/>
    <p:sldId id="265" r:id="rId9"/>
    <p:sldId id="268" r:id="rId10"/>
    <p:sldId id="283" r:id="rId11"/>
    <p:sldId id="270" r:id="rId12"/>
    <p:sldId id="271" r:id="rId13"/>
    <p:sldId id="274" r:id="rId14"/>
    <p:sldId id="275" r:id="rId15"/>
    <p:sldId id="276" r:id="rId16"/>
    <p:sldId id="277" r:id="rId17"/>
    <p:sldId id="278" r:id="rId18"/>
    <p:sldId id="284" r:id="rId19"/>
    <p:sldId id="285" r:id="rId20"/>
    <p:sldId id="286" r:id="rId21"/>
    <p:sldId id="287" r:id="rId22"/>
    <p:sldId id="288" r:id="rId23"/>
    <p:sldId id="267" r:id="rId24"/>
    <p:sldId id="272" r:id="rId25"/>
    <p:sldId id="273" r:id="rId26"/>
    <p:sldId id="259" r:id="rId27"/>
  </p:sldIdLst>
  <p:sldSz cx="12192000" cy="6858000"/>
  <p:notesSz cx="6858000" cy="9144000"/>
  <p:embeddedFontLst>
    <p:embeddedFont>
      <p:font typeface="Libre Baskerville" panose="02000000000000000000" pitchFamily="2" charset="0"/>
      <p:regular r:id="rId29"/>
      <p:bold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FBD23-AC9D-4E55-A139-669F586CE989}" v="627" dt="2026-04-17T17:05:37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venkatesh-badiga-9766a930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42C781-7E5C-5D14-9790-B99FF648C773}"/>
              </a:ext>
            </a:extLst>
          </p:cNvPr>
          <p:cNvSpPr txBox="1"/>
          <p:nvPr/>
        </p:nvSpPr>
        <p:spPr>
          <a:xfrm>
            <a:off x="2559159" y="3887883"/>
            <a:ext cx="7956883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</a:p>
          <a:p>
            <a:br>
              <a:rPr lang="en-IN" sz="4000" dirty="0"/>
            </a:br>
            <a:endParaRPr lang="en-US" sz="40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136FA-23CD-F932-BD48-25177FC1F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31225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3A1F3C-8E82-897B-109B-D844D0C73D85}"/>
              </a:ext>
            </a:extLst>
          </p:cNvPr>
          <p:cNvSpPr txBox="1"/>
          <p:nvPr/>
        </p:nvSpPr>
        <p:spPr>
          <a:xfrm>
            <a:off x="3991897" y="2979173"/>
            <a:ext cx="5702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DE80F-7503-A476-209B-59CF7997E941}"/>
              </a:ext>
            </a:extLst>
          </p:cNvPr>
          <p:cNvSpPr txBox="1"/>
          <p:nvPr/>
        </p:nvSpPr>
        <p:spPr>
          <a:xfrm>
            <a:off x="9473381" y="5227480"/>
            <a:ext cx="2841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.Venkatesh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Jayendra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Batch: 484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330B-32FA-1B66-15E5-97AC2410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312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  About me</a:t>
            </a:r>
            <a:br>
              <a:rPr lang="en-IN" sz="2800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65D8A-3784-B639-793B-98AD31D2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691" y="841094"/>
            <a:ext cx="10515600" cy="2767346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I’m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Jayendra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pursuing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year at Anurag University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helps to understand this data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analytics to work with data and find useful     Information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https://www.linkedin.com/in/rapally-jayendra-91ab8329b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https://github.com/RAPALLY-JAYENDRA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C61D0-0CAE-5290-0DFD-08EE5F765B9F}"/>
              </a:ext>
            </a:extLst>
          </p:cNvPr>
          <p:cNvSpPr txBox="1"/>
          <p:nvPr/>
        </p:nvSpPr>
        <p:spPr>
          <a:xfrm>
            <a:off x="1037303" y="3709644"/>
            <a:ext cx="1058442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am </a:t>
            </a:r>
            <a:r>
              <a:rPr lang="en-US" sz="1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Venkatesh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I have completed my Post Graduation in Master of Computer Applications (MCA) from Aurora’s PG College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Analytics: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Interested in working with data and insights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Opportunity to work with SQL, Python, and Power BI</a:t>
            </a:r>
            <a:endParaRPr lang="en-US" sz="17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Strong career growth and industry demand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LinkedIn: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www.linkedin.com/in/venkatesh-badiga-9766a930b</a:t>
            </a:r>
            <a:endParaRPr lang="en-US" sz="17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GitHub 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https://github.com/badigavenkat-alt</a:t>
            </a:r>
          </a:p>
        </p:txBody>
      </p:sp>
    </p:spTree>
    <p:extLst>
      <p:ext uri="{BB962C8B-B14F-4D97-AF65-F5344CB8AC3E}">
        <p14:creationId xmlns:p14="http://schemas.microsoft.com/office/powerpoint/2010/main" val="114420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Times New Roman"/>
                <a:cs typeface="Times New Roman"/>
              </a:rPr>
              <a:t>    Agenda</a:t>
            </a:r>
            <a:endParaRPr lang="en-US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/>
                <a:cs typeface="Times New Roman"/>
              </a:rPr>
              <a:t>Business Problem </a:t>
            </a:r>
            <a:endParaRPr lang="en-US" b="1" dirty="0">
              <a:latin typeface="Times New Roman"/>
              <a:cs typeface="Times New Roman"/>
            </a:endParaRPr>
          </a:p>
          <a:p>
            <a:pPr marL="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/>
                <a:cs typeface="Times New Roman"/>
              </a:rPr>
              <a:t> Problem Statement</a:t>
            </a:r>
            <a:endParaRPr lang="en-US" b="1" dirty="0">
              <a:latin typeface="Times New Roman"/>
              <a:cs typeface="Times New Roman"/>
            </a:endParaRPr>
          </a:p>
          <a:p>
            <a:pPr marL="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/>
                <a:cs typeface="Times New Roman"/>
              </a:rPr>
              <a:t>Objectives</a:t>
            </a:r>
          </a:p>
          <a:p>
            <a:pPr marL="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/>
                <a:cs typeface="Times New Roman"/>
              </a:rPr>
              <a:t>ER Diagram</a:t>
            </a:r>
          </a:p>
          <a:p>
            <a:pPr marL="34290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/>
                <a:cs typeface="Times New Roman"/>
              </a:rPr>
              <a:t>Queries</a:t>
            </a:r>
          </a:p>
          <a:p>
            <a:pPr marL="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/>
                <a:cs typeface="Times New Roman"/>
              </a:rPr>
              <a:t>Conclusion</a:t>
            </a:r>
          </a:p>
          <a:p>
            <a:pPr marL="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/>
                <a:cs typeface="Times New Roman"/>
              </a:rPr>
              <a:t>Recommendation </a:t>
            </a:r>
          </a:p>
          <a:p>
            <a:pPr marL="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/>
                <a:cs typeface="Times New Roman"/>
              </a:rPr>
              <a:t>Q &amp; A</a:t>
            </a:r>
          </a:p>
          <a:p>
            <a:pPr marL="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/>
                <a:cs typeface="Times New Roman"/>
              </a:rPr>
              <a:t>Thank You</a:t>
            </a:r>
          </a:p>
          <a:p>
            <a:pPr marL="368300">
              <a:buSzPts val="2400"/>
              <a:buFont typeface="Wingdings" panose="05000000000000000000" pitchFamily="2" charset="2"/>
              <a:buChar char="v"/>
            </a:pPr>
            <a:endParaRPr lang="en-US" sz="2400" dirty="0">
              <a:latin typeface="Times New Roman"/>
              <a:cs typeface="Times New Roman"/>
            </a:endParaRPr>
          </a:p>
          <a:p>
            <a:pPr indent="-457200">
              <a:buSzPts val="2800"/>
              <a:buFont typeface="Wingdings" panose="05000000000000000000" pitchFamily="2" charset="2"/>
              <a:buChar char="v"/>
            </a:pPr>
            <a:endParaRPr 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D60D-55A1-184D-F4FB-58BAA485E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/>
                <a:cs typeface="Times New Roman"/>
              </a:rPr>
              <a:t> Business Problem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A1CE0-4A40-6F7D-C3DF-184293465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60154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face major challenges in managing employee-related data such as personal details, job roles, salaries, qualifications, leave records, and payroll information.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companies still rely on manual processes or disconnected systems, which often lead to data redundancy, payroll errors, inefficient leave tracking, and difficulty in generating accurate reports.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 centralized Employee Management System, HR departments struggle to monitor employee performance, maintain data consistency, and make informed decisions.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issues reduce operational efficiency and affect overall organizational productivity.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Management System aims to solve these problems by providing a structured SQL-based database solution that securely stores and manages all employee information in one centralized system.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812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C01E-257F-E85E-7EF6-CAEFBF32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Problem Statement</a:t>
            </a:r>
            <a:endParaRPr lang="en-IN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3C9BB-5186-16EB-09B3-123CF4FA3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13975"/>
            <a:ext cx="10515600" cy="1841807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lacks a centralized system to manage employee details, job roles, salaries, qualifications, leave records, and payroll information effectively. Existing manual processes are time-consuming and prone to errors, leading to difficulties in maintaining accurate records and generating reports. The Employee Management System is designed to provide a structured SQL-based database solution that ensures efficient data management, improves HR operations, and supports better organizational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47092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E06A-0E37-11E2-8384-90838571F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/>
                <a:cs typeface="Times New Roman"/>
              </a:rPr>
              <a:t>Objective</a:t>
            </a:r>
            <a:endParaRPr lang="en-IN" b="1" dirty="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9DAD4-BEBD-5359-E69B-711F5D2AA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6013"/>
            <a:ext cx="10515600" cy="50868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employee information in a centralized database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departments, job roles, and salary details efficiently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employee qualification and leave records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payroll management and reporting processes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employee and department data using SQL queries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HR operations and support better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16944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604C3-7D48-C1C4-96AC-412404994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401289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ER Diagram</a:t>
            </a: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b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66977-CD75-5237-1233-765DD5634F8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690688"/>
            <a:ext cx="10515600" cy="4351337"/>
          </a:xfrm>
        </p:spPr>
        <p:txBody>
          <a:bodyPr/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E8C07-1D22-4021-5BAE-BB1052F0A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39" y="1165889"/>
            <a:ext cx="9684774" cy="48859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261A4D-99B9-E461-1AB3-5516CF806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835" y="904568"/>
            <a:ext cx="9526329" cy="53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17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1865-9B60-AAF3-3777-05B58D22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2FA60-7A16-AE23-3353-8662A2F6E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053" y="1267326"/>
            <a:ext cx="10952747" cy="502117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    1. Total unique employees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9AECB-0163-1E01-185A-AFB7FF168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01" y="2032978"/>
            <a:ext cx="5678242" cy="1661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082505-98AE-DA73-CFD5-D15DD240C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748" y="2032978"/>
            <a:ext cx="2605549" cy="1545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CB137A-5498-91DD-BC1D-95D43390CBBB}"/>
              </a:ext>
            </a:extLst>
          </p:cNvPr>
          <p:cNvSpPr txBox="1"/>
          <p:nvPr/>
        </p:nvSpPr>
        <p:spPr>
          <a:xfrm>
            <a:off x="948701" y="4102726"/>
            <a:ext cx="792982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currently has 60 unique employees in the system.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employee record is uniquely identified using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helps HR monitor the total workforce accurately.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ensures there are no duplicate employee records in the database. </a:t>
            </a:r>
          </a:p>
        </p:txBody>
      </p:sp>
    </p:spTree>
    <p:extLst>
      <p:ext uri="{BB962C8B-B14F-4D97-AF65-F5344CB8AC3E}">
        <p14:creationId xmlns:p14="http://schemas.microsoft.com/office/powerpoint/2010/main" val="407082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007E-5EC8-09F9-9130-FB31EDD5A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095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Que</a:t>
            </a:r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ries</a:t>
            </a:r>
            <a:endParaRPr lang="en-IN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130C5-34E4-5A17-5950-80D2A0CFC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1706"/>
            <a:ext cx="10515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44617-4660-22D9-C54D-83C92FDB0033}"/>
              </a:ext>
            </a:extLst>
          </p:cNvPr>
          <p:cNvSpPr txBox="1"/>
          <p:nvPr/>
        </p:nvSpPr>
        <p:spPr>
          <a:xfrm flipH="1">
            <a:off x="833886" y="1411706"/>
            <a:ext cx="76316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Departments with highest number of employees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202A11-85AF-CD6C-5239-53A898FF04F3}"/>
              </a:ext>
            </a:extLst>
          </p:cNvPr>
          <p:cNvSpPr txBox="1"/>
          <p:nvPr/>
        </p:nvSpPr>
        <p:spPr>
          <a:xfrm>
            <a:off x="1198920" y="4564372"/>
            <a:ext cx="961656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Finance and IT departments have the highest number of employees, with 9 employees each.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Operations department follows with 8 employees.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Engineering, Sales, and HR departments each have 7 employees.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BDC544-885A-283E-5582-B70C44931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920" y="2293628"/>
            <a:ext cx="4242274" cy="1414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DF5C64-794F-A456-41B2-97238F88E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639" y="2221845"/>
            <a:ext cx="2304673" cy="157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96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4FAD-E0B6-78ED-A388-E31E84BC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IN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EAC1E-1198-B359-B9A9-481DFB6EC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558" y="1459832"/>
            <a:ext cx="10760242" cy="471713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/>
                <a:cs typeface="Times New Roman"/>
              </a:rPr>
              <a:t>   3. Average salary per department</a:t>
            </a:r>
            <a:endParaRPr lang="en-IN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2FA87-FD0D-D9BD-58CC-571CF4D1E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2228"/>
            <a:ext cx="4589206" cy="17086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1FC247-4067-EC3F-0C99-4E0552F6A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323" y="2123152"/>
            <a:ext cx="2743200" cy="18195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ABD153-EF43-1B3A-A9D0-3B8B959DAC8C}"/>
              </a:ext>
            </a:extLst>
          </p:cNvPr>
          <p:cNvSpPr txBox="1"/>
          <p:nvPr/>
        </p:nvSpPr>
        <p:spPr>
          <a:xfrm>
            <a:off x="1229031" y="4205985"/>
            <a:ext cx="86425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Legal department has the highest average salary at approximately 84,600.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follows with an average salary of around 81,143.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and Finance departments also offer comparatively high average salaries.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HR department has the lowest average salary at approximately 62,571.</a:t>
            </a:r>
          </a:p>
        </p:txBody>
      </p:sp>
    </p:spTree>
    <p:extLst>
      <p:ext uri="{BB962C8B-B14F-4D97-AF65-F5344CB8AC3E}">
        <p14:creationId xmlns:p14="http://schemas.microsoft.com/office/powerpoint/2010/main" val="143200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D4D6-58C1-BDA7-4D7B-EA33E191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30456-2BE2-CBDC-0F6A-2D1722A74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4.Top 5 highest-paid employees</a:t>
            </a:r>
          </a:p>
          <a:p>
            <a:pPr marL="114300" indent="0">
              <a:buNone/>
            </a:pP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0E76C-BB8D-D6B9-D52E-990E08A1A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13" y="2793128"/>
            <a:ext cx="4334183" cy="1562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40B2D3-5FD2-8615-084B-8262DA95C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632" y="2490173"/>
            <a:ext cx="2550242" cy="1228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14B89E-89EF-4101-90AB-500EE514F90A}"/>
              </a:ext>
            </a:extLst>
          </p:cNvPr>
          <p:cNvSpPr txBox="1"/>
          <p:nvPr/>
        </p:nvSpPr>
        <p:spPr>
          <a:xfrm>
            <a:off x="1235792" y="4619129"/>
            <a:ext cx="797396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Ingrid is the highest-paid employee with a salary of 170,000.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holds the second-highest salary at 160,000.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Grake and Hank both earn 150,000.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Kelly ranks fifth with a salary of 140,000.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700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028D-23EB-E60B-1599-18A38A59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IN" b="1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D56A9-17CF-9FFE-9391-D7FB09F4A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05961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5. Total salary expenditure</a:t>
            </a:r>
          </a:p>
          <a:p>
            <a:pPr marL="114300" indent="0">
              <a:buNone/>
            </a:pP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E632C-4A63-3B74-65C1-7B3E73904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65" y="2734290"/>
            <a:ext cx="3551443" cy="10585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767F1E-0FFC-82D4-C0C3-CA409790C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159" y="2736748"/>
            <a:ext cx="2792976" cy="1058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B44E29-FDA8-B51A-0870-27F9E930CC93}"/>
              </a:ext>
            </a:extLst>
          </p:cNvPr>
          <p:cNvSpPr txBox="1"/>
          <p:nvPr/>
        </p:nvSpPr>
        <p:spPr>
          <a:xfrm>
            <a:off x="1130709" y="4261661"/>
            <a:ext cx="86130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salary expenditure of the organization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4,321,000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represents the overall amount allocated for employee salaries.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management understand overall payroll expenses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119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FAB0-0AEB-119D-D524-AD427B8E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D21C4-307A-CC36-60A9-1FAB231FA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6. Number of job roles per department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CFAD7-2F0E-72D2-7D80-0A1D78E20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64" y="2714625"/>
            <a:ext cx="4711188" cy="1147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905CF9-FBF2-4566-6E4A-988DA833D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461" y="2281237"/>
            <a:ext cx="2185526" cy="1867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D53368-7126-8BC9-9269-AD592383EA20}"/>
              </a:ext>
            </a:extLst>
          </p:cNvPr>
          <p:cNvSpPr txBox="1"/>
          <p:nvPr/>
        </p:nvSpPr>
        <p:spPr>
          <a:xfrm>
            <a:off x="1012721" y="4224369"/>
            <a:ext cx="8308259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Finance department has the highest number of job roles with 9 roles.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and Operations departments each have 8 job roles.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Engineering, HR, Marketing, and Sales departments each contain 7 roles.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Legal department has the lowest number of job roles with 5 roles.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810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8719-F2BD-F31B-6C76-6B5D4922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760F3-B83C-D955-4E66-ADE3F047E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7. Average salary range per department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ACED7-BF03-0BB1-86DA-2FF55FC95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73" y="2599402"/>
            <a:ext cx="4489655" cy="1441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5C57C5-40F9-DDEC-6716-722C0108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949" y="2285386"/>
            <a:ext cx="2576359" cy="1922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9D3FF1-2D83-2866-0797-627DB4776699}"/>
              </a:ext>
            </a:extLst>
          </p:cNvPr>
          <p:cNvSpPr txBox="1"/>
          <p:nvPr/>
        </p:nvSpPr>
        <p:spPr>
          <a:xfrm>
            <a:off x="1036073" y="4208206"/>
            <a:ext cx="89178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Legal department has the highest average salary range at approximately 84,600.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and Sales departments also have high average salary ranges.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Finance and IT departments maintain competitive salary structures.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HR department has the lowest average salary range at approximately 62,571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6720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30B2-3ACF-E7D1-F7EC-589D8E45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CC96B-6AE6-E78D-4A9B-77BEEB6AE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35457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8. Job roles with highest salary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6F61E-FA2C-795F-4543-54B3D212F0C2}"/>
              </a:ext>
            </a:extLst>
          </p:cNvPr>
          <p:cNvSpPr txBox="1"/>
          <p:nvPr/>
        </p:nvSpPr>
        <p:spPr>
          <a:xfrm>
            <a:off x="1095682" y="4404852"/>
            <a:ext cx="707492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Finance Director role offers the highest salary at 170,000.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Director is the second highest-paid role with 160,000.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Director and IT Director both offer salaries of 150,000.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DA5538-4BAB-303D-10AA-40727E245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6" y="2629760"/>
            <a:ext cx="4691024" cy="17701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7C1892-C54F-F444-9722-38422D7A0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662" y="2300568"/>
            <a:ext cx="2906072" cy="177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51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93F51-6E3F-BAC2-1E8A-D5EC58FD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45357-0205-9F9C-35F2-6581F4263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9. Departments with highest total salary allocation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1AB7E-A59A-C39F-0B04-6167C027428D}"/>
              </a:ext>
            </a:extLst>
          </p:cNvPr>
          <p:cNvSpPr txBox="1"/>
          <p:nvPr/>
        </p:nvSpPr>
        <p:spPr>
          <a:xfrm>
            <a:off x="1222119" y="4577898"/>
            <a:ext cx="982242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Finance department has the highest total salary allocation at 651,000.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 department follows with a total allocation of 638,000.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and Operations departments also contribute significantly to salary expenses.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Legal department has the lowest total salary allocation at 423,000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5C3D76-681C-C73C-A39E-67613B10F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997" y="2582503"/>
            <a:ext cx="4958506" cy="16619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DC3259-D6F8-3FE5-706F-8A64D64A1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203" y="2487561"/>
            <a:ext cx="1868799" cy="166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96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2EC1-B494-EB8F-005E-33386973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AF32D-F9F5-9498-D1EC-52C6C030A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10. Employees with at least one qualification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865D1-8F26-1142-FCA9-31E682592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32" y="2589261"/>
            <a:ext cx="5403748" cy="10560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2C5D39-225C-EE3C-F10B-13F8FFF37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862" y="2603550"/>
            <a:ext cx="2820937" cy="8967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AFDE9F-7B57-E560-0CDF-C9724F94094E}"/>
              </a:ext>
            </a:extLst>
          </p:cNvPr>
          <p:cNvSpPr txBox="1"/>
          <p:nvPr/>
        </p:nvSpPr>
        <p:spPr>
          <a:xfrm>
            <a:off x="1174031" y="3869671"/>
            <a:ext cx="7635671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60 employees in the organization have at least one qualification recorded.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the workforce is fully qualified for their respective job roles.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maintains proper qualification records for all employees.</a:t>
            </a:r>
          </a:p>
        </p:txBody>
      </p:sp>
    </p:spTree>
    <p:extLst>
      <p:ext uri="{BB962C8B-B14F-4D97-AF65-F5344CB8AC3E}">
        <p14:creationId xmlns:p14="http://schemas.microsoft.com/office/powerpoint/2010/main" val="1588904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55F2-9801-2F63-BC47-C63B14CF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7CBB-E8D1-0798-5801-8A5A7E14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E262C-1491-2007-D572-4AE8393C6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11. Positions requiring most qualifications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3E8290-90C5-1C6A-C50F-0A0E9DBF6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23" y="2558230"/>
            <a:ext cx="4217886" cy="1266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86F660-E815-ED7B-AA73-42DCECEE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485" y="2286794"/>
            <a:ext cx="3216992" cy="2059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AF1021-9A23-ED39-3224-120745429362}"/>
              </a:ext>
            </a:extLst>
          </p:cNvPr>
          <p:cNvSpPr txBox="1"/>
          <p:nvPr/>
        </p:nvSpPr>
        <p:spPr>
          <a:xfrm>
            <a:off x="1199842" y="4200636"/>
            <a:ext cx="900604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listed job positions currently have one qualification requirement each.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 such as HR Manager, Software Engineer, Data Analyst, and Marketing Manager require specific qualifications.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maintains qualification standards across different job roles.</a:t>
            </a:r>
          </a:p>
        </p:txBody>
      </p:sp>
    </p:spTree>
    <p:extLst>
      <p:ext uri="{BB962C8B-B14F-4D97-AF65-F5344CB8AC3E}">
        <p14:creationId xmlns:p14="http://schemas.microsoft.com/office/powerpoint/2010/main" val="2175437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5EDEC-6A47-7780-5F3A-BF755B37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246D-8B84-CE65-2B87-2D16B66B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D9811-6126-46C3-A62C-4400DB9D5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12. Employees with highest number of qualifications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E7934-56F8-B324-A298-6548D4FD8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066" y="2777612"/>
            <a:ext cx="5657850" cy="15324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BE8921-39B2-E196-065C-46D644460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048" y="2547937"/>
            <a:ext cx="3316391" cy="1762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D6A613-813E-A854-018E-1E484CD05313}"/>
              </a:ext>
            </a:extLst>
          </p:cNvPr>
          <p:cNvSpPr txBox="1"/>
          <p:nvPr/>
        </p:nvSpPr>
        <p:spPr>
          <a:xfrm>
            <a:off x="1297858" y="4551014"/>
            <a:ext cx="931114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such as John, Jane, Alice, Bob, and Charlie each have one qualification recorded.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listed employees currently have an equal number of qualifications.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maintains qualification records consistently across employees.</a:t>
            </a:r>
          </a:p>
        </p:txBody>
      </p:sp>
    </p:spTree>
    <p:extLst>
      <p:ext uri="{BB962C8B-B14F-4D97-AF65-F5344CB8AC3E}">
        <p14:creationId xmlns:p14="http://schemas.microsoft.com/office/powerpoint/2010/main" val="1274550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E99D7-9CED-A4BD-ACAF-1136B240D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2868-8C06-2E9F-FB25-FA9D4A4E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B3C33-0E65-C0B0-FFAB-0E3BD96A6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13. Year with most leaves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FB9AE-7271-3BB7-8F23-50375CD10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400" y="2598789"/>
            <a:ext cx="4855599" cy="1560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E816EF-02E0-969B-51B1-556CE697E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346" y="2476500"/>
            <a:ext cx="3196253" cy="952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DBC135-205E-2D12-EC84-462D67FED41E}"/>
              </a:ext>
            </a:extLst>
          </p:cNvPr>
          <p:cNvSpPr txBox="1"/>
          <p:nvPr/>
        </p:nvSpPr>
        <p:spPr>
          <a:xfrm>
            <a:off x="1240399" y="4347433"/>
            <a:ext cx="8237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year 2024 recorded the highest number of employee leaves with 60 leave entries.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increased leave activity during the year.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HR monitor employee absence trends over time.</a:t>
            </a:r>
          </a:p>
        </p:txBody>
      </p:sp>
    </p:spTree>
    <p:extLst>
      <p:ext uri="{BB962C8B-B14F-4D97-AF65-F5344CB8AC3E}">
        <p14:creationId xmlns:p14="http://schemas.microsoft.com/office/powerpoint/2010/main" val="1635479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1FB3-E426-5445-70B4-BD5BFB9F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99AC-C0BB-A07F-EF0A-1CB8AFF9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5177E-7607-7C53-163A-A163D2043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384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14. Average leaves per department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FFC61-0E33-2C8A-6BC9-8C4F3136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82" y="2142203"/>
            <a:ext cx="4665867" cy="2223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5E9264-4129-F942-368E-D22507942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588" y="2216021"/>
            <a:ext cx="3097160" cy="2075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50CA94-5183-12C8-D3F5-9C53AE340062}"/>
              </a:ext>
            </a:extLst>
          </p:cNvPr>
          <p:cNvSpPr txBox="1"/>
          <p:nvPr/>
        </p:nvSpPr>
        <p:spPr>
          <a:xfrm>
            <a:off x="1292482" y="4741076"/>
            <a:ext cx="723208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departments have an average leave count of 1 leave per employee.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distribution is consistent across all departments.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department shows unusually high or low leave activity.</a:t>
            </a:r>
          </a:p>
        </p:txBody>
      </p:sp>
    </p:spTree>
    <p:extLst>
      <p:ext uri="{BB962C8B-B14F-4D97-AF65-F5344CB8AC3E}">
        <p14:creationId xmlns:p14="http://schemas.microsoft.com/office/powerpoint/2010/main" val="4291937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7CA0-8211-234F-903C-243A44735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12F5-AA2B-BD81-4B7D-31654AC2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CEBCC-7372-A6BA-9508-522C67D12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384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15. Department with highest bonuses.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96E3F-0F98-6AD5-A879-460A15540F95}"/>
              </a:ext>
            </a:extLst>
          </p:cNvPr>
          <p:cNvSpPr txBox="1"/>
          <p:nvPr/>
        </p:nvSpPr>
        <p:spPr>
          <a:xfrm>
            <a:off x="1396180" y="3952476"/>
            <a:ext cx="828859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Finance department receives the highest total bonus amount at 96,000.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 department follows closely with 94,000 in bonuses.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and Sales departments also receive high bonus allocations.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HR department has the lowest total bonus amount at 57,200.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A2439-85E0-9493-89B4-D538B4DAD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980" y="2241756"/>
            <a:ext cx="4257367" cy="14650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C337D6-8FAB-90F9-45E8-D82C4A3B5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632" y="2426486"/>
            <a:ext cx="2129319" cy="79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9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4970-DCA0-D14D-C917-1FCE8D63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/>
                <a:cs typeface="Times New Roman"/>
              </a:rPr>
              <a:t>CONCLUSION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72381-B591-2814-6D7F-6E4B7909A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7755" y="2035278"/>
            <a:ext cx="10913807" cy="46506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Management System helps manage employee data efficiently using SQL.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centralizes information related to employees, departments, salaries, and payroll.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improves accuracy and reduces manual data management errors.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 provides useful insights for HR and management decisions.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tracking and payroll processing become easier and more organized.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supports better operational efficiency and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4233134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B6EA-8534-23E0-E142-DEEAE012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E206A-E85D-3A09-5FCE-267663721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automated payroll management system to reduce manual errors.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accurate and updated employee records regularly.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employee performance and leave analysis for better HR planning.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security for employee login and personal information.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regular reports to support management decision-making.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dashboards and visualization tools for better data analysis.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proper backup and maintenance of the database system. </a:t>
            </a:r>
          </a:p>
        </p:txBody>
      </p:sp>
    </p:spTree>
    <p:extLst>
      <p:ext uri="{BB962C8B-B14F-4D97-AF65-F5344CB8AC3E}">
        <p14:creationId xmlns:p14="http://schemas.microsoft.com/office/powerpoint/2010/main" val="3298153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3087-1E10-D225-8730-25B7F569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Q &amp; 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B1862-D381-150A-E3AB-BD799DECA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 descr="Question &amp; Answer Support Vector Image">
            <a:extLst>
              <a:ext uri="{FF2B5EF4-FFF2-40B4-BE49-F238E27FC236}">
                <a16:creationId xmlns:a16="http://schemas.microsoft.com/office/drawing/2014/main" id="{1BC12D7A-1A34-6A0D-A220-C22FD9D96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702" y="1830322"/>
            <a:ext cx="6165010" cy="434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67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1353</Words>
  <Application>Microsoft Office PowerPoint</Application>
  <PresentationFormat>Widescreen</PresentationFormat>
  <Paragraphs>180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Wingdings</vt:lpstr>
      <vt:lpstr>Calibri</vt:lpstr>
      <vt:lpstr>Arial</vt:lpstr>
      <vt:lpstr>Libre Baskerville</vt:lpstr>
      <vt:lpstr>Times New Roman</vt:lpstr>
      <vt:lpstr>Office Theme</vt:lpstr>
      <vt:lpstr>PowerPoint Presentation</vt:lpstr>
      <vt:lpstr>  About me </vt:lpstr>
      <vt:lpstr>    Agenda</vt:lpstr>
      <vt:lpstr> Business Problem</vt:lpstr>
      <vt:lpstr>Problem Statement</vt:lpstr>
      <vt:lpstr>Objective</vt:lpstr>
      <vt:lpstr>ER Diagram               </vt:lpstr>
      <vt:lpstr>Queries </vt:lpstr>
      <vt:lpstr>Queries</vt:lpstr>
      <vt:lpstr>Queries</vt:lpstr>
      <vt:lpstr>Queries</vt:lpstr>
      <vt:lpstr>Queries</vt:lpstr>
      <vt:lpstr>Queries</vt:lpstr>
      <vt:lpstr>Queries</vt:lpstr>
      <vt:lpstr>Queries</vt:lpstr>
      <vt:lpstr>Queries</vt:lpstr>
      <vt:lpstr>Queries</vt:lpstr>
      <vt:lpstr>Queries</vt:lpstr>
      <vt:lpstr>Queries</vt:lpstr>
      <vt:lpstr>Queries</vt:lpstr>
      <vt:lpstr>Queries</vt:lpstr>
      <vt:lpstr>Queries</vt:lpstr>
      <vt:lpstr>CONCLUSION </vt:lpstr>
      <vt:lpstr>Recommendations</vt:lpstr>
      <vt:lpstr>Q &amp; 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badiga venkatesh</cp:lastModifiedBy>
  <cp:revision>330</cp:revision>
  <dcterms:created xsi:type="dcterms:W3CDTF">2021-02-16T05:19:01Z</dcterms:created>
  <dcterms:modified xsi:type="dcterms:W3CDTF">2026-05-09T03:47:10Z</dcterms:modified>
</cp:coreProperties>
</file>